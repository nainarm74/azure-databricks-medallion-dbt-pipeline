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69" r:id="rId2"/>
    <p:sldId id="277" r:id="rId3"/>
    <p:sldId id="275" r:id="rId4"/>
    <p:sldId id="276" r:id="rId5"/>
    <p:sldId id="272" r:id="rId6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88" autoAdjust="0"/>
    <p:restoredTop sz="94660"/>
  </p:normalViewPr>
  <p:slideViewPr>
    <p:cSldViewPr>
      <p:cViewPr varScale="1">
        <p:scale>
          <a:sx n="78" d="100"/>
          <a:sy n="78" d="100"/>
        </p:scale>
        <p:origin x="128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8DE01D-4523-482C-B83D-95E65BA3F1D8}" type="datetimeFigureOut">
              <a:rPr lang="en-SG" smtClean="0"/>
              <a:t>15/6/2026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5F3C4-718E-4555-A330-E27A43F5EFA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84827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775" y="274485"/>
            <a:ext cx="209550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42424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1F232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2424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F232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2424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9200" y="1275577"/>
            <a:ext cx="614680" cy="0"/>
          </a:xfrm>
          <a:custGeom>
            <a:avLst/>
            <a:gdLst/>
            <a:ahLst/>
            <a:cxnLst/>
            <a:rect l="l" t="t" r="r" b="b"/>
            <a:pathLst>
              <a:path w="614680">
                <a:moveTo>
                  <a:pt x="0" y="0"/>
                </a:moveTo>
                <a:lnTo>
                  <a:pt x="614100" y="0"/>
                </a:lnTo>
              </a:path>
            </a:pathLst>
          </a:custGeom>
          <a:ln w="19049">
            <a:solidFill>
              <a:srgbClr val="4242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2424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817" y="2886517"/>
            <a:ext cx="4678140" cy="189051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241899"/>
            <a:ext cx="7987375" cy="9107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42424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1371" y="1804535"/>
            <a:ext cx="3684270" cy="1427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1F232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localhost:8080/#!/overview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95246" y="290197"/>
            <a:ext cx="7549592" cy="9738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3600" kern="1200" spc="-40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Architecture – Medallion </a:t>
            </a:r>
            <a:endParaRPr lang="en-US" sz="3600" kern="1200" spc="-285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499133"/>
            <a:ext cx="8590945" cy="5862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52309"/>
            <a:ext cx="8537521" cy="320099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84D818-B21E-40C7-56D7-FF1DDD7FB173}"/>
              </a:ext>
            </a:extLst>
          </p:cNvPr>
          <p:cNvSpPr txBox="1"/>
          <p:nvPr/>
        </p:nvSpPr>
        <p:spPr>
          <a:xfrm>
            <a:off x="595245" y="1949631"/>
            <a:ext cx="3398174" cy="27295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Granular Bronze Ingestion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The raw layer is expanded into independent, individual stream objects (such as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orders_stream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products_stream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tracking exact data sources instead of generic, high-level groupings.</a:t>
            </a: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Conformed Silver Dimensions: 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Master reference tables like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dim_seller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dim_customer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standardize business entities, with specialized logic merging streams (e.g., combining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products_stream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translation_stream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provide English category names in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dim_product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</a:t>
            </a: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Atomic Silver Facts: 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Core transaction events land into four discrete fact tables (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fct_order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fct_order_item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fct_order_payment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fct_order_review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that are bound to dimensions via strict Primary Key and Foreign Key relational constraints.</a:t>
            </a: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Isolated Time-Intelligence Routing: 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prevent visual overlap and crossing boundaries, a dedicated, orthogonal channel route connects calendar fields from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dim_date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directly to the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purchase_at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field inside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fct_order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Gold Semantic Aggregations: 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transactional histories from the Silver tier are rolled up into specialized, business-ready Materialized Views (such as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mv_sales_prediction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en-US" sz="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mv_delivery_perf_opt</a:t>
            </a:r>
            <a:r>
              <a:rPr lang="en-US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to power end-user analytics and prediction models.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14BDE3-A44A-8EFD-0B38-A3B96258CE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649" y="1971682"/>
            <a:ext cx="3862707" cy="25687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421030" y="1734770"/>
            <a:ext cx="586275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813DD-C65A-9924-4DB1-3E09AAD22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D1BCA612-D91B-6C52-513E-A895131314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" y="133350"/>
            <a:ext cx="7616275" cy="801365"/>
          </a:xfrm>
          <a:prstGeom prst="rect">
            <a:avLst/>
          </a:prstGeom>
        </p:spPr>
        <p:txBody>
          <a:bodyPr vert="horz" wrap="square" lIns="0" tIns="305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kern="1200" spc="-405" dirty="0">
                <a:solidFill>
                  <a:schemeClr val="tx1"/>
                </a:solidFill>
              </a:rPr>
              <a:t>Data Architecture – Medallion (</a:t>
            </a:r>
            <a:r>
              <a:rPr lang="en-US" spc="-335" dirty="0"/>
              <a:t>Ingestion to Bronze Layer)</a:t>
            </a:r>
            <a:endParaRPr spc="-305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BCBF660-2275-6C86-E96C-CF53F8248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465759"/>
              </p:ext>
            </p:extLst>
          </p:nvPr>
        </p:nvGraphicFramePr>
        <p:xfrm>
          <a:off x="152400" y="1804989"/>
          <a:ext cx="2590800" cy="73342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4258575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905374745"/>
                    </a:ext>
                  </a:extLst>
                </a:gridCol>
              </a:tblGrid>
              <a:tr h="183356">
                <a:tc grid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1" dirty="0">
                          <a:effectLst/>
                        </a:rPr>
                        <a:t>Metadata </a:t>
                      </a:r>
                      <a:endParaRPr lang="en-SG" sz="700" b="1" dirty="0">
                        <a:effectLst/>
                      </a:endParaRPr>
                    </a:p>
                  </a:txBody>
                  <a:tcPr marL="37557" marR="37557" marT="18778" marB="18778"/>
                </a:tc>
                <a:tc hMerge="1"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SG" sz="700" dirty="0">
                        <a:solidFill>
                          <a:srgbClr val="313539"/>
                        </a:solidFill>
                        <a:effectLst/>
                      </a:endParaRPr>
                    </a:p>
                  </a:txBody>
                  <a:tcPr marL="37557" marR="37557" marT="18778" marB="18778"/>
                </a:tc>
                <a:extLst>
                  <a:ext uri="{0D108BD9-81ED-4DB2-BD59-A6C34878D82A}">
                    <a16:rowId xmlns:a16="http://schemas.microsoft.com/office/drawing/2014/main" val="4229994331"/>
                  </a:ext>
                </a:extLst>
              </a:tr>
              <a:tr h="18335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700" dirty="0" err="1">
                          <a:solidFill>
                            <a:srgbClr val="313539"/>
                          </a:solidFill>
                          <a:effectLst/>
                        </a:rPr>
                        <a:t>source_file_path</a:t>
                      </a:r>
                      <a:endParaRPr lang="en-SG" sz="700" dirty="0">
                        <a:effectLst/>
                      </a:endParaRPr>
                    </a:p>
                  </a:txBody>
                  <a:tcPr marL="37557" marR="37557" marT="18778" marB="1877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700" dirty="0">
                          <a:solidFill>
                            <a:srgbClr val="313539"/>
                          </a:solidFill>
                          <a:effectLst/>
                        </a:rPr>
                        <a:t>string</a:t>
                      </a:r>
                    </a:p>
                  </a:txBody>
                  <a:tcPr marL="37557" marR="37557" marT="18778" marB="18778"/>
                </a:tc>
                <a:extLst>
                  <a:ext uri="{0D108BD9-81ED-4DB2-BD59-A6C34878D82A}">
                    <a16:rowId xmlns:a16="http://schemas.microsoft.com/office/drawing/2014/main" val="271722195"/>
                  </a:ext>
                </a:extLst>
              </a:tr>
              <a:tr h="18335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700" dirty="0" err="1">
                          <a:solidFill>
                            <a:srgbClr val="313539"/>
                          </a:solidFill>
                          <a:effectLst/>
                        </a:rPr>
                        <a:t>ingestion_timestamp</a:t>
                      </a:r>
                      <a:endParaRPr lang="en-SG" sz="700" dirty="0">
                        <a:effectLst/>
                      </a:endParaRPr>
                    </a:p>
                  </a:txBody>
                  <a:tcPr marL="37557" marR="37557" marT="18778" marB="1877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700" dirty="0">
                          <a:solidFill>
                            <a:srgbClr val="313539"/>
                          </a:solidFill>
                          <a:effectLst/>
                        </a:rPr>
                        <a:t>timestamp</a:t>
                      </a:r>
                    </a:p>
                  </a:txBody>
                  <a:tcPr marL="37557" marR="37557" marT="18778" marB="18778"/>
                </a:tc>
                <a:extLst>
                  <a:ext uri="{0D108BD9-81ED-4DB2-BD59-A6C34878D82A}">
                    <a16:rowId xmlns:a16="http://schemas.microsoft.com/office/drawing/2014/main" val="136243627"/>
                  </a:ext>
                </a:extLst>
              </a:tr>
              <a:tr h="18335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700" dirty="0" err="1">
                          <a:solidFill>
                            <a:srgbClr val="313539"/>
                          </a:solidFill>
                          <a:effectLst/>
                        </a:rPr>
                        <a:t>ingestion_user</a:t>
                      </a:r>
                      <a:endParaRPr lang="en-SG" sz="700" dirty="0">
                        <a:effectLst/>
                      </a:endParaRPr>
                    </a:p>
                  </a:txBody>
                  <a:tcPr marL="37557" marR="37557" marT="18778" marB="18778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700" dirty="0">
                          <a:solidFill>
                            <a:srgbClr val="313539"/>
                          </a:solidFill>
                          <a:effectLst/>
                        </a:rPr>
                        <a:t>string</a:t>
                      </a:r>
                      <a:endParaRPr lang="en-SG" sz="700" dirty="0">
                        <a:effectLst/>
                      </a:endParaRPr>
                    </a:p>
                  </a:txBody>
                  <a:tcPr marL="37557" marR="37557" marT="18778" marB="18778"/>
                </a:tc>
                <a:extLst>
                  <a:ext uri="{0D108BD9-81ED-4DB2-BD59-A6C34878D82A}">
                    <a16:rowId xmlns:a16="http://schemas.microsoft.com/office/drawing/2014/main" val="183624925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6FAD94BB-C629-6CB9-28F9-CCC5C821BB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012486"/>
            <a:ext cx="5169123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417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6673E-D5C5-F288-D3B8-C39633306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20B87CD6-3B5C-5359-6CCA-12EAE1DCF2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5246" y="290197"/>
            <a:ext cx="7329554" cy="45275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3600" kern="1200" spc="-40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Architecture – Medallion  (Continued)</a:t>
            </a:r>
            <a:endParaRPr lang="en-US" sz="3600" kern="1200" spc="-285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812CB2-FB32-323A-F168-FAA07CF10C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66750"/>
            <a:ext cx="6663644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079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D7285-DD86-4B81-49BD-9D77CEE90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2432080E-852B-A1CA-4A71-B84D6BC59C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438150"/>
            <a:ext cx="2147954" cy="30035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3600" kern="1200" spc="-40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DBT  Pipeline</a:t>
            </a:r>
            <a:endParaRPr lang="en-US" sz="3600" kern="1200" spc="-285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94471F-C36C-C9EE-EBE9-59A03199FB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-24351"/>
            <a:ext cx="3962401" cy="49339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0AE7B8-5CE9-5F76-9251-6C7FFD804463}"/>
              </a:ext>
            </a:extLst>
          </p:cNvPr>
          <p:cNvSpPr txBox="1"/>
          <p:nvPr/>
        </p:nvSpPr>
        <p:spPr>
          <a:xfrm>
            <a:off x="304800" y="1428751"/>
            <a:ext cx="3581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j-lt"/>
              </a:rPr>
              <a:t>Stage 1 Verification: </a:t>
            </a:r>
          </a:p>
          <a:p>
            <a:r>
              <a:rPr lang="en-US" sz="1200" dirty="0">
                <a:latin typeface="+mj-lt"/>
              </a:rPr>
              <a:t>Validating </a:t>
            </a:r>
            <a:r>
              <a:rPr lang="en-US" sz="1200" dirty="0">
                <a:solidFill>
                  <a:srgbClr val="0070C0"/>
                </a:solidFill>
                <a:latin typeface="+mj-lt"/>
              </a:rPr>
              <a:t>unique and not null </a:t>
            </a:r>
            <a:r>
              <a:rPr lang="en-US" sz="1200" dirty="0">
                <a:latin typeface="+mj-lt"/>
              </a:rPr>
              <a:t>assertions before data lands in your Silver Dimensions.</a:t>
            </a:r>
          </a:p>
          <a:p>
            <a:endParaRPr lang="en-US" sz="1200" dirty="0">
              <a:latin typeface="+mj-lt"/>
            </a:endParaRPr>
          </a:p>
          <a:p>
            <a:r>
              <a:rPr lang="en-US" sz="1200" dirty="0">
                <a:latin typeface="+mj-lt"/>
              </a:rPr>
              <a:t>Stage 2 Verification: </a:t>
            </a:r>
          </a:p>
          <a:p>
            <a:r>
              <a:rPr lang="en-US" sz="1200" dirty="0">
                <a:latin typeface="+mj-lt"/>
              </a:rPr>
              <a:t>Executing complex operational constraints (e.g., verifying relational constraints and matching dates via </a:t>
            </a:r>
            <a:r>
              <a:rPr lang="en-US" sz="1200" dirty="0" err="1">
                <a:solidFill>
                  <a:srgbClr val="0070C0"/>
                </a:solidFill>
                <a:latin typeface="+mj-lt"/>
              </a:rPr>
              <a:t>dbt_utils.expression_is_true</a:t>
            </a:r>
            <a:r>
              <a:rPr lang="en-US" sz="1200" dirty="0">
                <a:latin typeface="+mj-lt"/>
              </a:rPr>
              <a:t> to ensure that facts map correctly to master records.</a:t>
            </a:r>
            <a:endParaRPr lang="en-SG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35891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84725" y="241899"/>
            <a:ext cx="7987375" cy="770587"/>
          </a:xfrm>
          <a:prstGeom prst="rect">
            <a:avLst/>
          </a:prstGeom>
        </p:spPr>
        <p:txBody>
          <a:bodyPr vert="horz" wrap="square" lIns="0" tIns="305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0" dirty="0"/>
              <a:t>DBT</a:t>
            </a:r>
            <a:r>
              <a:rPr lang="en-US" spc="-350" dirty="0"/>
              <a:t> Data Lineage</a:t>
            </a:r>
            <a:endParaRPr spc="-350" dirty="0"/>
          </a:p>
        </p:txBody>
      </p:sp>
      <p:pic>
        <p:nvPicPr>
          <p:cNvPr id="6" name="Picture 5">
            <a:hlinkClick r:id="rId2"/>
            <a:extLst>
              <a:ext uri="{FF2B5EF4-FFF2-40B4-BE49-F238E27FC236}">
                <a16:creationId xmlns:a16="http://schemas.microsoft.com/office/drawing/2014/main" id="{92993857-48A8-5510-AF86-865C07107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352550"/>
            <a:ext cx="8763000" cy="36620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755</TotalTime>
  <Words>316</Words>
  <Application>Microsoft Office PowerPoint</Application>
  <PresentationFormat>On-screen Show (16:9)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Arial MT</vt:lpstr>
      <vt:lpstr>Trebuchet MS</vt:lpstr>
      <vt:lpstr>Office Theme</vt:lpstr>
      <vt:lpstr>Data Architecture – Medallion </vt:lpstr>
      <vt:lpstr>Data Architecture – Medallion (Ingestion to Bronze Layer)</vt:lpstr>
      <vt:lpstr>Data Architecture – Medallion  (Continued)</vt:lpstr>
      <vt:lpstr>DBT  Pipeline</vt:lpstr>
      <vt:lpstr>DBT Data Lineage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DSAI5 Module2 Team 2 project presentation</dc:title>
  <cp:lastModifiedBy>Nainar Mohamed Sheik Mohideen</cp:lastModifiedBy>
  <cp:revision>25</cp:revision>
  <dcterms:created xsi:type="dcterms:W3CDTF">2026-06-06T12:07:27Z</dcterms:created>
  <dcterms:modified xsi:type="dcterms:W3CDTF">2026-06-15T04:56:59Z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2026-06-06T00:00:00Z</vt:filetime>
  </property>
  <property fmtid="{D5CDD505-2E9C-101B-9397-08002B2CF9AE}" pid="4" name="Creator">
    <vt:lpwstr>Google</vt:lpwstr>
  </property>
  <property fmtid="{D5CDD505-2E9C-101B-9397-08002B2CF9AE}" pid="5" name="LastSaved">
    <vt:filetime>2026-06-06T00:00:00Z</vt:filetime>
  </property>
</Properties>
</file>